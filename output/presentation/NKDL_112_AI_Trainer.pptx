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62" r:id="rId10"/>
    <p:sldId id="263" r:id="rId11"/>
    <p:sldId id="264" r:id="rId12"/>
    <p:sldId id="265" r:id="rId13"/>
    <p:sldId id="266" r:id="rId14"/>
    <p:sldId id="279" r:id="rId27"/>
    <p:sldId id="280" r:id="rId28"/>
    <p:sldId id="282" r:id="rId30"/>
    <p:sldId id="268" r:id="rId16"/>
    <p:sldId id="271" r:id="rId19"/>
    <p:sldId id="276" r:id="rId24"/>
    <p:sldId id="275" r:id="rId23"/>
    <p:sldId id="272" r:id="rId20"/>
    <p:sldId id="270" r:id="rId18"/>
    <p:sldId id="269" r:id="rId17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30" Type="http://schemas.openxmlformats.org/officeDocument/2006/relationships/slide" Target="slides/slide27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sz="1400">
                <a:solidFill>
                  <a:srgbClr val="FFFFFF"/>
                </a:solidFill>
              </a:rPr>
              <a:t>Время ответа собеседника, с</a:t>
            </a:r>
          </a:p>
        </c:rich>
      </c:tx>
      <c:layout/>
      <c:overlay val="0"/>
    </c:title>
    <c:autoTitleDeleted val="1"/>
    <c:plotArea>
      <c:layout>
        <c:manualLayout>
          <c:layoutTarget val="inner"/>
          <c:xMode val="edge"/>
          <c:yMode val="edge"/>
          <c:x val="0.051688"/>
          <c:y val="0.126935"/>
          <c:w val="0.926086"/>
          <c:h val="0.6674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ответа, с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Типовой ход</c:v>
                </c:pt>
                <c:pt idx="1">
                  <c:v>Модель на GPU</c:v>
                </c:pt>
                <c:pt idx="2">
                  <c:v>Модель на CPU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</c:v>
                </c:pt>
                <c:pt idx="1">
                  <c:v>0.41</c:v>
                </c:pt>
                <c:pt idx="2">
                  <c:v>2.1</c:v>
                </c:pt>
              </c:numCache>
            </c:numRef>
          </c:val>
        </c:ser>
        <c:dLbls>
          <c:showBubbleSize val="0"/>
          <c:showCatName val="0"/>
          <c:showLeaderLines val="0"/>
          <c:numFmt formatCode="0.0#" sourceLinked="0"/>
          <c:txPr>
            <a:bodyPr/>
            <a:lstStyle/>
            <a:p>
              <a:pPr>
                <a:defRPr sz="1400">
                  <a:solidFill>
                    <a:srgbClr val="FFFFFF"/>
                  </a:solidFill>
                </a:defRPr>
              </a:pPr>
            </a:p>
          </c:txPr>
          <c:showLegendKey val="0"/>
          <c:showPercent val="0"/>
          <c:showSerName val="0"/>
          <c:showVal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1.000000"/>
      </c:valAx>
      <c:spPr bwMode="auto">
        <a:prstGeom prst="rect">
          <a:avLst/>
        </a:prstGeom>
        <a:noFill/>
        <a:ln w="25400">
          <a:noFill/>
        </a:ln>
        <a:effectLst/>
      </c:spPr>
    </c:plotArea>
    <c:plotVisOnly val="1"/>
    <c:dispBlanksAs val="gap"/>
    <c:showDLblsOverMax val="0"/>
  </c:chart>
  <c:spPr bwMode="auto">
    <a:xfrm rot="0"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013712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6965962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2043271692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828737210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50355684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998375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E0B07B-4994-86C7-C5C4-6B0612603A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F80ECD-729A-E90A-764F-53B58B2554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70137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7983650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38317560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585576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9332004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36374816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A5768-6206-4BE3-C6BE-BCBB6E8032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1AA1F7-76D4-00D8-67FD-925FD4DF230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394613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8028299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29229016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14</a:t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961E92-9034-0C95-DE59-972B6F7750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32F96F-3BAD-3C36-F391-505318A95F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00DF85-B1C7-3B4D-C306-7A361266E5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0829B7-171C-E6FE-8D81-B966BAA226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843308-7FE0-0671-AC76-6A834E399F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2CB543-D599-C06C-F60D-693D3E5A0E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C7902F-7280-31C5-38CE-B55E3B66CD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B6554E-C633-D547-432F-4AE687D0A8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425536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110144796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1405516321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1254218645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339855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9827682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46843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27.09.2026</a:t>
            </a:fld>
            <a:endParaRPr lang="ru-RU"/>
          </a:p>
        </p:txBody>
      </p:sp>
      <p:sp>
        <p:nvSpPr>
          <p:cNvPr id="3272410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907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20900629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199465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014738977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439458150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70693853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239940024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16335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27.09.2026</a:t>
            </a:fld>
            <a:endParaRPr lang="ru-RU"/>
          </a:p>
        </p:txBody>
      </p:sp>
      <p:sp>
        <p:nvSpPr>
          <p:cNvPr id="135348971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9475173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2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801702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1049304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27.09.2026</a:t>
            </a:fld>
            <a:endParaRPr lang="ru-RU"/>
          </a:p>
        </p:txBody>
      </p:sp>
      <p:sp>
        <p:nvSpPr>
          <p:cNvPr id="97249642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627580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6679595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448384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16167701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22908689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27.09.2026</a:t>
            </a:fld>
            <a:endParaRPr lang="ru-RU"/>
          </a:p>
        </p:txBody>
      </p:sp>
      <p:sp>
        <p:nvSpPr>
          <p:cNvPr id="39065947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6604391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0093511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95078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94715818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95319732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57386340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60847468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27.09.2026</a:t>
            </a:fld>
            <a:endParaRPr lang="ru-RU"/>
          </a:p>
        </p:txBody>
      </p:sp>
      <p:sp>
        <p:nvSpPr>
          <p:cNvPr id="1845915601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5590586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433631886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5620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27.09.2026</a:t>
            </a:fld>
            <a:endParaRPr lang="ru-RU"/>
          </a:p>
        </p:txBody>
      </p:sp>
      <p:sp>
        <p:nvSpPr>
          <p:cNvPr id="191220886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8498377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758588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75222573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4842225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829621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27.09.2026</a:t>
            </a:fld>
            <a:endParaRPr lang="ru-RU"/>
          </a:p>
        </p:txBody>
      </p:sp>
      <p:sp>
        <p:nvSpPr>
          <p:cNvPr id="152016776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5348091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94238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27.09.2026</a:t>
            </a:fld>
            <a:endParaRPr lang="ru-RU"/>
          </a:p>
        </p:txBody>
      </p:sp>
      <p:sp>
        <p:nvSpPr>
          <p:cNvPr id="179887555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97775164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24477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91219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27.09.2026</a:t>
            </a:fld>
            <a:endParaRPr lang="ru-RU"/>
          </a:p>
        </p:txBody>
      </p:sp>
      <p:sp>
        <p:nvSpPr>
          <p:cNvPr id="100221686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066601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442822386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93413012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910939272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70326313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683929981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725500833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250243078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352076971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371576846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583880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19573317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302260715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466530784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59580407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486665179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864989681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466910125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833600175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2039579235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37401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27.09.2026</a:t>
            </a:fld>
            <a:endParaRPr lang="ru-RU"/>
          </a:p>
        </p:txBody>
      </p:sp>
      <p:sp>
        <p:nvSpPr>
          <p:cNvPr id="54958085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007945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790993343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47938757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2946876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38413792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603731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31013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27.09.2026</a:t>
            </a:fld>
            <a:endParaRPr lang="ru-RU"/>
          </a:p>
        </p:txBody>
      </p:sp>
      <p:sp>
        <p:nvSpPr>
          <p:cNvPr id="82072771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6112661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67775323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1794109860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45530994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64287925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94548452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555555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58055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27.09.2026</a:t>
            </a:fld>
            <a:endParaRPr lang="ru-RU"/>
          </a:p>
        </p:txBody>
      </p:sp>
      <p:sp>
        <p:nvSpPr>
          <p:cNvPr id="2356062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5481023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18371931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160855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6741763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47941582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0063255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23194081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8705845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9330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27.09.2026</a:t>
            </a:fld>
            <a:endParaRPr lang="ru-RU"/>
          </a:p>
        </p:txBody>
      </p:sp>
      <p:sp>
        <p:nvSpPr>
          <p:cNvPr id="88418210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0211972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16273515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3095832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5541280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8831091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902750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78583396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20369262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42655350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7750218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93408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27.09.2026</a:t>
            </a:fld>
            <a:endParaRPr lang="ru-RU"/>
          </a:p>
        </p:txBody>
      </p:sp>
      <p:sp>
        <p:nvSpPr>
          <p:cNvPr id="13976441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56189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419252752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68797307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88793816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3822524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44534243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7281111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050023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955241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86466840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7927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27.09.2026</a:t>
            </a:fld>
            <a:endParaRPr lang="ru-RU"/>
          </a:p>
        </p:txBody>
      </p:sp>
      <p:sp>
        <p:nvSpPr>
          <p:cNvPr id="194510579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1935858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82414468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81029885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8005262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85745357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81930856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7733198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4914858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51867435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42827129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3964089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57861986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19760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27.09.2026</a:t>
            </a:fld>
            <a:endParaRPr lang="ru-RU"/>
          </a:p>
        </p:txBody>
      </p:sp>
      <p:sp>
        <p:nvSpPr>
          <p:cNvPr id="76642880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04457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33126000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14947606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543642662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338349809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1219202407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2122880917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926086418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22564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110493855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27.09.2026</a:t>
            </a:fld>
            <a:endParaRPr lang="ru-RU"/>
          </a:p>
        </p:txBody>
      </p:sp>
      <p:sp>
        <p:nvSpPr>
          <p:cNvPr id="99495032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7588807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473609816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92039685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2203576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59142379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699721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27.09.2026</a:t>
            </a:fld>
            <a:endParaRPr lang="ru-RU"/>
          </a:p>
        </p:txBody>
      </p:sp>
      <p:sp>
        <p:nvSpPr>
          <p:cNvPr id="9030378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8256236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458141152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78821192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39118242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6554366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352124520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123339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84042103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39648589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14870038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4428046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4016818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93870280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88067462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90903019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3703835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7300869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5515160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373685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1996954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19864959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27.09.2026</a:t>
            </a:fld>
            <a:endParaRPr lang="ru-RU"/>
          </a:p>
        </p:txBody>
      </p:sp>
      <p:sp>
        <p:nvSpPr>
          <p:cNvPr id="46231574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57789151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790669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20260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860211682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336898217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46799091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27.09.2026</a:t>
            </a:fld>
            <a:endParaRPr lang="ru-RU"/>
          </a:p>
        </p:txBody>
      </p:sp>
      <p:sp>
        <p:nvSpPr>
          <p:cNvPr id="141890906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523676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901054143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65000097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44456437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99590778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176453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123170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8215473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5830260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27.09.2026</a:t>
            </a:fld>
            <a:endParaRPr lang="ru-RU"/>
          </a:p>
        </p:txBody>
      </p:sp>
      <p:sp>
        <p:nvSpPr>
          <p:cNvPr id="14249938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642882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8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8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827.png"/><Relationship Id="rId5" Type="http://schemas.openxmlformats.org/officeDocument/2006/relationships/image" Target="../media/image828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38343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000"/>
              <a:t>112 AI Trainer</a:t>
            </a:r>
          </a:p>
        </p:txBody>
      </p:sp>
      <p:sp>
        <p:nvSpPr>
          <p:cNvPr id="44206535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411480" y="5659501"/>
            <a:ext cx="7498079" cy="757174"/>
          </a:xfrm>
        </p:spPr>
        <p:txBody>
          <a:bodyPr anchor="ctr"/>
          <a:lstStyle/>
          <a:p>
            <a:pPr indent="0" marL="0">
              <a:buNone/>
              <a:defRPr/>
            </a:pPr>
            <a:r>
              <a:rPr lang="ru-RU"/>
              <a:t>Команда NKDL · Задача № 9: учебный симулятор подготовки диспетчеров экстренных служб по вызовам от системы 112</a:t>
            </a:r>
          </a:p>
        </p:txBody>
      </p:sp>
      <p:sp>
        <p:nvSpPr>
          <p:cNvPr id="648760800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458038344" name="Picture 14580383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66928"/>
            <a:ext cx="4846320" cy="738181"/>
          </a:xfrm>
          <a:prstGeom prst="rect">
            <a:avLst/>
          </a:prstGeom>
        </p:spPr>
      </p:pic>
      <p:sp>
        <p:nvSpPr>
          <p:cNvPr id="1458038345" name="TextBox 1458038344"/>
          <p:cNvSpPr txBox="1"/>
          <p:nvPr/>
        </p:nvSpPr>
        <p:spPr>
          <a:xfrm>
            <a:off x="411480" y="2331720"/>
            <a:ext cx="56692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ontserrat"/>
              </a:rPr>
              <a:t>Тренажёр диспетчера ДДС Системы-112 с голосом и локальным ИИ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0506245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478679152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755133691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100">
                <a:solidFill>
                  <a:schemeClr val="tx1"/>
                </a:solidFill>
              </a:rPr>
              <a:t>Живой голос бригады и начальника смены по SIP, пошаговый наставник для новичка, ИИ-генерация сценариев и эталонов, объяснимая оценка по журналу действий. Работает полностью локально — на CPU или GPU.</a:t>
            </a:r>
          </a:p>
        </p:txBody>
      </p:sp>
      <p:sp>
        <p:nvSpPr>
          <p:cNvPr id="1102397602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200">
                <a:solidFill>
                  <a:schemeClr val="tx1"/>
                </a:solidFill>
              </a:rPr>
              <a:t xml:space="preserve">Капитан: </a:t>
            </a:r>
            <a:r>
              <a:rPr lang="ru-RU" b="0" sz="1200">
                <a:solidFill>
                  <a:schemeClr val="tx1"/>
                </a:solidFill>
              </a:rPr>
              <a:t>Кодзаев Николай Петрович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200">
                <a:solidFill>
                  <a:schemeClr val="tx1"/>
                </a:solidFill>
              </a:rPr>
              <a:t xml:space="preserve">Кол-во участников: </a:t>
            </a:r>
            <a:r>
              <a:rPr lang="ru-RU" b="0" sz="1200">
                <a:solidFill>
                  <a:schemeClr val="tx1"/>
                </a:solidFill>
              </a:rPr>
              <a:t>3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200">
                <a:solidFill>
                  <a:schemeClr val="tx1"/>
                </a:solidFill>
              </a:rPr>
              <a:t xml:space="preserve">Роли: </a:t>
            </a:r>
            <a:r>
              <a:rPr lang="ru-RU" b="0" sz="1200">
                <a:solidFill>
                  <a:schemeClr val="tx1"/>
                </a:solidFill>
              </a:rPr>
              <a:t>бизнес-анализ и разработка, тестирование, документация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200">
                <a:solidFill>
                  <a:schemeClr val="tx1"/>
                </a:solidFill>
              </a:rPr>
              <a:t xml:space="preserve">Как образовалась: </a:t>
            </a:r>
            <a:r>
              <a:rPr lang="ru-RU" b="0" sz="1200">
                <a:solidFill>
                  <a:schemeClr val="tx1"/>
                </a:solidFill>
              </a:rPr>
              <a:t>собрались под задачу ЛЦТ-2026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200">
                <a:solidFill>
                  <a:schemeClr val="tx1"/>
                </a:solidFill>
              </a:rPr>
              <a:t xml:space="preserve">Город и регион: </a:t>
            </a:r>
            <a:r>
              <a:rPr lang="ru-RU" b="0" sz="120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1874388209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245791335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>
                <a:solidFill>
                  <a:schemeClr val="accent5"/>
                </a:solidFill>
                <a:latin typeface="Montserrat"/>
              </a:rPr>
              <a:t>Тренажёр диспетчера ДДС</a:t>
            </a:r>
          </a:p>
        </p:txBody>
      </p:sp>
      <p:cxnSp>
        <p:nvCxnSpPr>
          <p:cNvPr id="358573428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29601079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1563573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64827726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951067719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100">
                <a:solidFill>
                  <a:schemeClr val="tx1"/>
                </a:solidFill>
              </a:rPr>
              <a:t>Веб-тренажёр повторяет АРМ ДДС Системы-112: карточка приходит от 112, диспетчер принимает её, назначает бригаду, докладывает начальнику и бригаде по телефону и отражает ход работ статусами. Каждое действие и норматив оцениваются автоматически.</a:t>
            </a:r>
          </a:p>
        </p:txBody>
      </p:sp>
      <p:sp>
        <p:nvSpPr>
          <p:cNvPr id="515451043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 sz="1200">
              <a:solidFill>
                <a:schemeClr val="accent5"/>
              </a:solidFill>
            </a:endParaRPr>
          </a:p>
        </p:txBody>
      </p:sp>
      <p:pic>
        <p:nvPicPr>
          <p:cNvPr id="1874388210" name="Picture 1874388209" descr="04-card.png"/>
          <p:cNvPicPr>
            <a:picLocks noChangeAspect="1"/>
          </p:cNvPicPr>
          <p:nvPr/>
        </p:nvPicPr>
        <p:blipFill>
          <a:blip r:embed="rId4"/>
          <a:srcRect t="9081" b="9081"/>
          <a:stretch>
            <a:fillRect/>
          </a:stretch>
        </p:blipFill>
        <p:spPr>
          <a:xfrm>
            <a:off x="0" y="338328"/>
            <a:ext cx="6455664" cy="2971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170371" name="Скругленный прямоугольник 55"/>
          <p:cNvSpPr/>
          <p:nvPr/>
        </p:nvSpPr>
        <p:spPr bwMode="auto">
          <a:xfrm>
            <a:off x="4361688" y="1522006"/>
            <a:ext cx="3611880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92448466" name="Текст 8"/>
          <p:cNvSpPr txBox="1"/>
          <p:nvPr/>
        </p:nvSpPr>
        <p:spPr bwMode="auto">
          <a:xfrm>
            <a:off x="4590288" y="4160520"/>
            <a:ext cx="3154680" cy="20116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300">
                <a:solidFill>
                  <a:schemeClr val="tx1"/>
                </a:solidFill>
              </a:rPr>
              <a:t>Тестирование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300">
                <a:solidFill>
                  <a:schemeClr val="tx1"/>
                </a:solidFill>
              </a:rPr>
              <a:t>Автотесты и браузерные проверки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300">
                <a:solidFill>
                  <a:schemeClr val="tx1"/>
                </a:solidFill>
              </a:rPr>
              <a:t>Приёмка голосового цикла</a:t>
            </a:r>
          </a:p>
        </p:txBody>
      </p:sp>
      <p:sp>
        <p:nvSpPr>
          <p:cNvPr id="51584155" name="Текст 8"/>
          <p:cNvSpPr txBox="1"/>
          <p:nvPr/>
        </p:nvSpPr>
        <p:spPr bwMode="auto">
          <a:xfrm>
            <a:off x="4590288" y="3611880"/>
            <a:ext cx="3154680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Дмитрий Лазарев</a:t>
            </a:r>
          </a:p>
        </p:txBody>
      </p:sp>
      <p:sp>
        <p:nvSpPr>
          <p:cNvPr id="356882898" name="Скругленный прямоугольник 58"/>
          <p:cNvSpPr/>
          <p:nvPr/>
        </p:nvSpPr>
        <p:spPr bwMode="auto">
          <a:xfrm>
            <a:off x="8247888" y="1522006"/>
            <a:ext cx="3611880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90221110" name="Текст 8"/>
          <p:cNvSpPr txBox="1"/>
          <p:nvPr/>
        </p:nvSpPr>
        <p:spPr bwMode="auto">
          <a:xfrm>
            <a:off x="8476488" y="4160520"/>
            <a:ext cx="3154680" cy="20116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300">
                <a:solidFill>
                  <a:schemeClr val="tx1"/>
                </a:solidFill>
              </a:rPr>
              <a:t>Тестирование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300">
                <a:solidFill>
                  <a:schemeClr val="tx1"/>
                </a:solidFill>
              </a:rPr>
              <a:t>Пользовательские сценарии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300">
                <a:solidFill>
                  <a:schemeClr val="tx1"/>
                </a:solidFill>
              </a:rPr>
              <a:t>Документация и руководства</a:t>
            </a:r>
          </a:p>
        </p:txBody>
      </p:sp>
      <p:sp>
        <p:nvSpPr>
          <p:cNvPr id="1784211223" name="Текст 8"/>
          <p:cNvSpPr txBox="1"/>
          <p:nvPr/>
        </p:nvSpPr>
        <p:spPr bwMode="auto">
          <a:xfrm>
            <a:off x="8476488" y="3611880"/>
            <a:ext cx="3154680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Мария Молодова</a:t>
            </a:r>
          </a:p>
        </p:txBody>
      </p:sp>
      <p:sp>
        <p:nvSpPr>
          <p:cNvPr id="2044533104" name="Скругленный прямоугольник 16"/>
          <p:cNvSpPr/>
          <p:nvPr/>
        </p:nvSpPr>
        <p:spPr bwMode="auto">
          <a:xfrm>
            <a:off x="475488" y="1522006"/>
            <a:ext cx="3611880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56305816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1365847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567995782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КОМАНДА NKDL</a:t>
            </a:r>
          </a:p>
        </p:txBody>
      </p:sp>
      <p:sp>
        <p:nvSpPr>
          <p:cNvPr id="89742710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704088" y="4160520"/>
            <a:ext cx="3154680" cy="2011680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300">
                <a:solidFill>
                  <a:schemeClr val="tx1"/>
                </a:solidFill>
              </a:rPr>
              <a:t>Капитан</a:t>
            </a:r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300">
                <a:solidFill>
                  <a:schemeClr val="tx1"/>
                </a:solidFill>
              </a:rPr>
              <a:t>Бизнес-анализ и требования</a:t>
            </a:r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300">
                <a:solidFill>
                  <a:schemeClr val="tx1"/>
                </a:solidFill>
              </a:rPr>
              <a:t>Архитектура и разработка: АРМ, backend, голос, ИИ</a:t>
            </a:r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300">
                <a:solidFill>
                  <a:schemeClr val="tx1"/>
                </a:solidFill>
              </a:rPr>
              <a:t>Развёртывание</a:t>
            </a:r>
          </a:p>
        </p:txBody>
      </p:sp>
      <p:sp>
        <p:nvSpPr>
          <p:cNvPr id="1411803852" name="Текст 8"/>
          <p:cNvSpPr txBox="1"/>
          <p:nvPr/>
        </p:nvSpPr>
        <p:spPr bwMode="auto">
          <a:xfrm>
            <a:off x="704088" y="3611880"/>
            <a:ext cx="3154680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Николай Кодзаев</a:t>
            </a:r>
          </a:p>
        </p:txBody>
      </p:sp>
      <p:sp>
        <p:nvSpPr>
          <p:cNvPr id="2044533105" name="Oval 2044533104"/>
          <p:cNvSpPr/>
          <p:nvPr/>
        </p:nvSpPr>
        <p:spPr>
          <a:xfrm>
            <a:off x="1504188" y="1828800"/>
            <a:ext cx="1554480" cy="1554480"/>
          </a:xfrm>
          <a:prstGeom prst="ellipse">
            <a:avLst/>
          </a:prstGeom>
          <a:solidFill>
            <a:srgbClr val="520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Montserrat"/>
              </a:rPr>
              <a:t>НК</a:t>
            </a:r>
          </a:p>
        </p:txBody>
      </p:sp>
      <p:sp>
        <p:nvSpPr>
          <p:cNvPr id="2044533106" name="Oval 2044533105"/>
          <p:cNvSpPr/>
          <p:nvPr/>
        </p:nvSpPr>
        <p:spPr>
          <a:xfrm>
            <a:off x="5390388" y="1828800"/>
            <a:ext cx="1554480" cy="1554480"/>
          </a:xfrm>
          <a:prstGeom prst="ellipse">
            <a:avLst/>
          </a:prstGeom>
          <a:solidFill>
            <a:srgbClr val="520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Montserrat"/>
              </a:rPr>
              <a:t>ДЛ</a:t>
            </a:r>
          </a:p>
        </p:txBody>
      </p:sp>
      <p:sp>
        <p:nvSpPr>
          <p:cNvPr id="2044533107" name="Oval 2044533106"/>
          <p:cNvSpPr/>
          <p:nvPr/>
        </p:nvSpPr>
        <p:spPr>
          <a:xfrm>
            <a:off x="9276588" y="1828800"/>
            <a:ext cx="1554480" cy="1554480"/>
          </a:xfrm>
          <a:prstGeom prst="ellipse">
            <a:avLst/>
          </a:prstGeom>
          <a:solidFill>
            <a:srgbClr val="520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Montserrat"/>
              </a:rPr>
              <a:t>ММ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27523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75910667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483488042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О КОМАНДЕ</a:t>
            </a:r>
          </a:p>
        </p:txBody>
      </p:sp>
      <p:sp>
        <p:nvSpPr>
          <p:cNvPr id="865837193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27632"/>
            <a:ext cx="10241280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300">
                <a:solidFill>
                  <a:schemeClr val="tx1"/>
                </a:solidFill>
              </a:rPr>
              <a:t>Собрались под задачу хакатона: капитан отвечает за продукт, анализ и разработку, двое участников — за качество и документацию. Работали короткими итерациями: каждая сессия Q&amp;A и ответ заказчика сразу превращались в изменения и тесты.</a:t>
            </a:r>
          </a:p>
        </p:txBody>
      </p:sp>
      <p:sp>
        <p:nvSpPr>
          <p:cNvPr id="1824825271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1140267277" name="Текст 8"/>
          <p:cNvSpPr txBox="1"/>
          <p:nvPr/>
        </p:nvSpPr>
        <p:spPr bwMode="auto">
          <a:xfrm>
            <a:off x="533607" y="5139255"/>
            <a:ext cx="10241280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300">
                <a:solidFill>
                  <a:schemeClr val="tx1"/>
                </a:solidFill>
              </a:rPr>
              <a:t>Роль обучаемого уточнялась (оператор 112 или диспетчер ДДС) — сверяли каждый ответ заказчика с кодом. Голос в реальном времени на локальном железе — типовые ходы обрабатываются правилами за 0,2 с, к модели идут только свободные вопросы. Нормативы уточнялись до последних дней — вынесли их в конфигурацию и закрепили тестами.</a:t>
            </a:r>
          </a:p>
        </p:txBody>
      </p:sp>
      <p:sp>
        <p:nvSpPr>
          <p:cNvPr id="1840054972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Сложности и как их преодолели</a:t>
            </a:r>
          </a:p>
        </p:txBody>
      </p:sp>
      <p:sp>
        <p:nvSpPr>
          <p:cNvPr id="1430627584" name="Текст 8"/>
          <p:cNvSpPr txBox="1"/>
          <p:nvPr/>
        </p:nvSpPr>
        <p:spPr bwMode="auto">
          <a:xfrm>
            <a:off x="533607" y="3429000"/>
            <a:ext cx="1024128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300">
                <a:solidFill>
                  <a:schemeClr val="tx1"/>
                </a:solidFill>
              </a:rPr>
              <a:t>От скорости и точности диспетчера зависит, приедет ли помощь по правильному адресу. Хотели сделать тренажёр, который учит навыку реагирования, а не заполнению формы.</a:t>
            </a:r>
          </a:p>
        </p:txBody>
      </p:sp>
      <p:sp>
        <p:nvSpPr>
          <p:cNvPr id="1419715073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выбрали эту задачу</a:t>
            </a:r>
          </a:p>
        </p:txBody>
      </p:sp>
      <p:cxnSp>
        <p:nvCxnSpPr>
          <p:cNvPr id="1492481176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88899310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4385736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4181273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4486520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436603793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236566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46908539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87613794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60924643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81168734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Веб-АРМ ДДС по снимкам реального интерфейса Системы-112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FastAPI + PostgreSQL, журнал событий каждой карточки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Голос: Asterisk (SIP TLS/SRTP), распознавание и синтез речи локально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Локальные модели Qwen3 через Ollama — CPU или GPU по выбору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Оценка по журналу действий: воспроизводимая и объяснимая</a:t>
            </a:r>
          </a:p>
        </p:txBody>
      </p:sp>
      <p:sp>
        <p:nvSpPr>
          <p:cNvPr id="1105992578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Учебный центр ГБУ «Система 112»: подготовка, переподготовка и аттестация диспетчеров ДДС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Один тренажёр для ЖКХ, водоканала, управ, газовых служб — профиль ДДС задаётся сценарием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Меньше нагрузки на преподавателя: ИИ готовит сценарии и эталоны, первичная оценка автоматическая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Дальше: SMS-канал, интеграция с каталогом AD, аналитика по учебным центрам</a:t>
            </a:r>
          </a:p>
        </p:txBody>
      </p:sp>
      <p:sp>
        <p:nvSpPr>
          <p:cNvPr id="213189053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1351636113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849138977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Применение и развитие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98511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57658655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560798842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6858000" cy="552061"/>
          </a:xfrm>
        </p:spPr>
        <p:txBody>
          <a:bodyPr/>
          <a:lstStyle/>
          <a:p>
            <a:pPr>
              <a:defRPr/>
            </a:pPr>
            <a:r>
              <a:rPr lang="ru-RU" sz="3600">
                <a:solidFill>
                  <a:schemeClr val="bg1"/>
                </a:solidFill>
              </a:rPr>
              <a:t>ПРЕПОДАВАТЕЛЬ</a:t>
            </a:r>
          </a:p>
        </p:txBody>
      </p:sp>
      <p:pic>
        <p:nvPicPr>
          <p:cNvPr id="1457658656" name="Picture 1457658655" descr="teacher_gene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89760"/>
            <a:ext cx="5852160" cy="3901440"/>
          </a:xfrm>
          <a:prstGeom prst="rect">
            <a:avLst/>
          </a:prstGeom>
        </p:spPr>
      </p:pic>
      <p:sp>
        <p:nvSpPr>
          <p:cNvPr id="1457658657" name="TextBox 1457658656"/>
          <p:cNvSpPr txBox="1"/>
          <p:nvPr/>
        </p:nvSpPr>
        <p:spPr>
          <a:xfrm>
            <a:off x="6629400" y="1600200"/>
            <a:ext cx="502920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ИИ-черновик сценария по теме занятия: карточка, доклады бригады, эталон решений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Предпросмотр и корректировка комментарием, затем утверждение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Группы, адресные задания и рабочие места, одновременные карточки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Наблюдение в реальном времени, «Делай как я» для всей группы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Отчёт занятия: действия, ошибки, время против норматива, грамматика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Экспертная оценка с аудитом, выгрузки CSV/XLSX, сертификаты PDF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905753" name="Скругленный прямоугольник 8"/>
          <p:cNvSpPr/>
          <p:nvPr/>
        </p:nvSpPr>
        <p:spPr bwMode="auto"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11786721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14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174299264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415925"/>
          </a:xfrm>
        </p:spPr>
        <p:txBody>
          <a:bodyPr/>
          <a:lstStyle/>
          <a:p>
            <a:pPr>
              <a:defRPr/>
            </a:pPr>
            <a:r>
              <a:rPr lang="ru-RU" sz="2000">
                <a:solidFill>
                  <a:schemeClr val="accent5"/>
                </a:solidFill>
              </a:rPr>
              <a:t>СПАСИБО!</a:t>
            </a:r>
          </a:p>
        </p:txBody>
      </p:sp>
      <p:sp>
        <p:nvSpPr>
          <p:cNvPr id="1001743161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95433" y="1143695"/>
            <a:ext cx="4807840" cy="47173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chemeClr val="tx1"/>
                </a:solidFill>
              </a:rPr>
              <a:t>Команда NKDL</a:t>
            </a:r>
          </a:p>
          <a:p>
            <a:pPr marL="0" indent="0">
              <a:buNone/>
              <a:defRPr/>
            </a:pPr>
            <a:r>
              <a:rPr lang="ru-RU" sz="1400">
                <a:solidFill>
                  <a:schemeClr val="tx1"/>
                </a:solidFill>
              </a:rPr>
              <a:t>Николай Кодзаев · Дмитрий Лазарев · Мария Молодова</a:t>
            </a:r>
          </a:p>
          <a:p>
            <a:pPr marL="0" indent="0">
              <a:buNone/>
              <a:defRPr/>
            </a:pPr>
          </a:p>
          <a:p>
            <a:pPr marL="0" indent="0">
              <a:buNone/>
              <a:defRPr/>
            </a:pPr>
            <a:r>
              <a:rPr lang="ru-RU" sz="1400" b="1">
                <a:solidFill>
                  <a:schemeClr val="tx1"/>
                </a:solidFill>
              </a:rPr>
              <a:t>Прототип</a:t>
            </a:r>
          </a:p>
          <a:p>
            <a:pPr marL="0" indent="0">
              <a:buNone/>
              <a:defRPr/>
            </a:pPr>
            <a:r>
              <a:rPr lang="ru-RU" sz="1400">
                <a:solidFill>
                  <a:schemeClr val="tx1"/>
                </a:solidFill>
              </a:rPr>
              <a:t>https://212.22.78.93</a:t>
            </a:r>
          </a:p>
          <a:p>
            <a:pPr marL="0" indent="0">
              <a:buNone/>
              <a:defRPr/>
            </a:pPr>
          </a:p>
          <a:p>
            <a:pPr marL="0" indent="0">
              <a:buNone/>
              <a:defRPr/>
            </a:pPr>
            <a:r>
              <a:rPr lang="ru-RU" sz="1400" b="1">
                <a:solidFill>
                  <a:schemeClr val="tx1"/>
                </a:solidFill>
              </a:rPr>
              <a:t>Репозиторий</a:t>
            </a:r>
          </a:p>
          <a:p>
            <a:pPr marL="0" indent="0">
              <a:buNone/>
              <a:defRPr/>
            </a:pPr>
            <a:r>
              <a:rPr lang="ru-RU" sz="1400">
                <a:solidFill>
                  <a:schemeClr val="tx1"/>
                </a:solidFill>
              </a:rPr>
              <a:t>https://github.com/kolloko2/112-ai-trainer</a:t>
            </a:r>
          </a:p>
          <a:p>
            <a:pPr marL="0" indent="0">
              <a:buNone/>
              <a:defRPr/>
            </a:pPr>
          </a:p>
          <a:p>
            <a:pPr marL="0" indent="0">
              <a:buNone/>
              <a:defRPr/>
            </a:pPr>
            <a:r>
              <a:rPr lang="ru-RU" sz="1400" b="1">
                <a:solidFill>
                  <a:schemeClr val="tx1"/>
                </a:solidFill>
              </a:rPr>
              <a:t>Вход для проверки</a:t>
            </a:r>
          </a:p>
          <a:p>
            <a:pPr marL="0" indent="0">
              <a:buNone/>
              <a:defRPr/>
            </a:pPr>
            <a:r>
              <a:rPr lang="ru-RU" sz="1400">
                <a:solidFill>
                  <a:schemeClr val="tx1"/>
                </a:solidFill>
              </a:rPr>
              <a:t>преподаватель prepod, ученики kursant1 и kursant2</a:t>
            </a:r>
          </a:p>
          <a:p>
            <a:pPr marL="0" indent="0">
              <a:buNone/>
              <a:defRPr/>
            </a:pPr>
            <a:r>
              <a:rPr lang="ru-RU" sz="1400">
                <a:solidFill>
                  <a:schemeClr val="tx1"/>
                </a:solidFill>
              </a:rPr>
              <a:t>пароль Trener112-2026</a:t>
            </a:r>
          </a:p>
        </p:txBody>
      </p:sp>
      <p:pic>
        <p:nvPicPr>
          <p:cNvPr id="2011786722" name="Picture 2011786721" descr="prepod_portal@1366.png"/>
          <p:cNvPicPr>
            <a:picLocks noChangeAspect="1"/>
          </p:cNvPicPr>
          <p:nvPr/>
        </p:nvPicPr>
        <p:blipFill>
          <a:blip r:embed="rId4"/>
          <a:srcRect b="71946"/>
          <a:stretch>
            <a:fillRect/>
          </a:stretch>
        </p:blipFill>
        <p:spPr>
          <a:xfrm>
            <a:off x="6099048" y="0"/>
            <a:ext cx="609904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578006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>
              <a:defRPr/>
            </a:pPr>
            <a:r>
              <a:rPr lang="ru-RU" sz="2000">
                <a:solidFill>
                  <a:schemeClr val="accent5"/>
                </a:solidFill>
              </a:rPr>
              <a:t>ПЛАН РАЗВИТИЯ</a:t>
            </a:r>
          </a:p>
        </p:txBody>
      </p:sp>
      <p:sp>
        <p:nvSpPr>
          <p:cNvPr id="1444976472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11155680" cy="712587"/>
          </a:xfrm>
        </p:spPr>
        <p:txBody>
          <a:bodyPr/>
          <a:lstStyle/>
          <a:p>
            <a:pPr>
              <a:defRPr/>
            </a:pPr>
            <a:r>
              <a:rPr lang="ru-RU" sz="1600">
                <a:solidFill>
                  <a:schemeClr val="tx1"/>
                </a:solidFill>
              </a:rPr>
              <a:t>Пилот в учебном центре ГБУ «Система 112», сбор обезличенной статистики</a:t>
            </a:r>
          </a:p>
        </p:txBody>
      </p:sp>
      <p:sp>
        <p:nvSpPr>
          <p:cNvPr id="974187189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11155680" cy="712587"/>
          </a:xfrm>
        </p:spPr>
        <p:txBody>
          <a:bodyPr/>
          <a:lstStyle/>
          <a:p>
            <a:pPr>
              <a:defRPr/>
            </a:pPr>
            <a:r>
              <a:rPr lang="ru-RU" sz="1600">
                <a:solidFill>
                  <a:schemeClr val="tx1"/>
                </a:solidFill>
              </a:rPr>
              <a:t>Библиотека сценариев по всем профилям ДДС вместе с методистами</a:t>
            </a:r>
          </a:p>
        </p:txBody>
      </p:sp>
      <p:sp>
        <p:nvSpPr>
          <p:cNvPr id="782895483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11155680" cy="712587"/>
          </a:xfrm>
        </p:spPr>
        <p:txBody>
          <a:bodyPr/>
          <a:lstStyle/>
          <a:p>
            <a:pPr>
              <a:defRPr/>
            </a:pPr>
            <a:r>
              <a:rPr lang="ru-RU" sz="1600">
                <a:solidFill>
                  <a:schemeClr val="tx1"/>
                </a:solidFill>
              </a:rPr>
              <a:t>SMS-канал и конференц-связь с несколькими службами</a:t>
            </a:r>
          </a:p>
        </p:txBody>
      </p:sp>
      <p:sp>
        <p:nvSpPr>
          <p:cNvPr id="1966305277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11155680" cy="712587"/>
          </a:xfrm>
        </p:spPr>
        <p:txBody>
          <a:bodyPr/>
          <a:lstStyle/>
          <a:p>
            <a:pPr>
              <a:defRPr/>
            </a:pPr>
            <a:r>
              <a:rPr lang="ru-RU" sz="1600">
                <a:solidFill>
                  <a:schemeClr val="tx1"/>
                </a:solidFill>
              </a:rPr>
              <a:t>Вход через корпоративный каталог AD и отчётность по учебным центрам</a:t>
            </a:r>
          </a:p>
        </p:txBody>
      </p:sp>
      <p:sp>
        <p:nvSpPr>
          <p:cNvPr id="670544567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5123063"/>
            <a:ext cx="11155680" cy="712587"/>
          </a:xfrm>
        </p:spPr>
        <p:txBody>
          <a:bodyPr/>
          <a:lstStyle/>
          <a:p>
            <a:pPr>
              <a:defRPr/>
            </a:pPr>
            <a:r>
              <a:rPr lang="ru-RU" sz="1600">
                <a:solidFill>
                  <a:schemeClr val="tx1"/>
                </a:solidFill>
              </a:rPr>
              <a:t>Масштабирование: отдельный сервер моделей и кластер голосовых узлов</a:t>
            </a:r>
          </a:p>
        </p:txBody>
      </p:sp>
      <p:sp>
        <p:nvSpPr>
          <p:cNvPr id="1274430962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15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1459775594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7877389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5582789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08246042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88569697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825011" name="Скругленный прямоугольник 9"/>
          <p:cNvSpPr/>
          <p:nvPr/>
        </p:nvSpPr>
        <p:spPr bwMode="auto">
          <a:xfrm>
            <a:off x="346075" y="324562"/>
            <a:ext cx="325526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49639353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56845787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4394773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99185499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9433732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26457282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685800"/>
          </a:xfrm>
        </p:spPr>
        <p:txBody>
          <a:bodyPr/>
          <a:lstStyle/>
          <a:p>
            <a:pPr>
              <a:defRPr/>
            </a:pPr>
            <a:r>
              <a:rPr lang="ru-RU" sz="1400" b="1">
                <a:solidFill>
                  <a:srgbClr val="F92571"/>
                </a:solidFill>
              </a:rPr>
              <a:t>Генерация сценариев</a:t>
            </a:r>
          </a:p>
        </p:txBody>
      </p:sp>
      <p:sp>
        <p:nvSpPr>
          <p:cNvPr id="952803971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246120"/>
            <a:ext cx="2284071" cy="2797928"/>
          </a:xfrm>
        </p:spPr>
        <p:txBody>
          <a:bodyPr/>
          <a:lstStyle/>
          <a:p>
            <a:pPr>
              <a:defRPr/>
            </a:pPr>
            <a:r>
              <a:rPr lang="ru-RU" sz="1200">
                <a:solidFill>
                  <a:schemeClr val="tx1"/>
                </a:solidFill>
              </a:rPr>
              <a:t>По теме занятия ИИ готовит карточку, доклады бригады и эталон; преподаватель правит комментарием и утверждает.</a:t>
            </a:r>
          </a:p>
        </p:txBody>
      </p:sp>
      <p:sp>
        <p:nvSpPr>
          <p:cNvPr id="599404245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685800"/>
          </a:xfrm>
        </p:spPr>
        <p:txBody>
          <a:bodyPr/>
          <a:lstStyle/>
          <a:p>
            <a:pPr>
              <a:defRPr/>
            </a:pPr>
            <a:r>
              <a:rPr lang="ru-RU" sz="1400" b="1">
                <a:solidFill>
                  <a:srgbClr val="F92571"/>
                </a:solidFill>
              </a:rPr>
              <a:t>Голос бригады и начальника</a:t>
            </a:r>
          </a:p>
        </p:txBody>
      </p:sp>
      <p:sp>
        <p:nvSpPr>
          <p:cNvPr id="753864535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246120"/>
            <a:ext cx="2337416" cy="2797928"/>
          </a:xfrm>
        </p:spPr>
        <p:txBody>
          <a:bodyPr/>
          <a:lstStyle/>
          <a:p>
            <a:pPr>
              <a:defRPr/>
            </a:pPr>
            <a:r>
              <a:rPr lang="ru-RU" sz="1200">
                <a:solidFill>
                  <a:schemeClr val="tx1"/>
                </a:solidFill>
              </a:rPr>
              <a:t>Локальная модель отвечает как старший бригады или начальник смены; факты берутся только из сценария.</a:t>
            </a:r>
          </a:p>
        </p:txBody>
      </p:sp>
      <p:sp>
        <p:nvSpPr>
          <p:cNvPr id="248331359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685800"/>
          </a:xfrm>
        </p:spPr>
        <p:txBody>
          <a:bodyPr/>
          <a:lstStyle/>
          <a:p>
            <a:pPr>
              <a:defRPr/>
            </a:pPr>
            <a:r>
              <a:rPr lang="ru-RU" sz="1400" b="1">
                <a:solidFill>
                  <a:srgbClr val="F92571"/>
                </a:solidFill>
              </a:rPr>
              <a:t>Разбор и инсайты</a:t>
            </a:r>
          </a:p>
        </p:txBody>
      </p:sp>
      <p:sp>
        <p:nvSpPr>
          <p:cNvPr id="155047522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246120"/>
            <a:ext cx="2268537" cy="2797928"/>
          </a:xfrm>
        </p:spPr>
        <p:txBody>
          <a:bodyPr/>
          <a:lstStyle/>
          <a:p>
            <a:pPr>
              <a:defRPr/>
            </a:pPr>
            <a:r>
              <a:rPr lang="ru-RU" sz="1200">
                <a:solidFill>
                  <a:schemeClr val="tx1"/>
                </a:solidFill>
              </a:rPr>
              <a:t>ИИ-разбор ошибок ученика и типичные ошибки группы с рекомендациями преподавателю.</a:t>
            </a:r>
          </a:p>
        </p:txBody>
      </p:sp>
      <p:sp>
        <p:nvSpPr>
          <p:cNvPr id="848377047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685800"/>
          </a:xfrm>
        </p:spPr>
        <p:txBody>
          <a:bodyPr/>
          <a:lstStyle/>
          <a:p>
            <a:pPr>
              <a:defRPr/>
            </a:pPr>
            <a:r>
              <a:rPr lang="ru-RU" sz="1400" b="1">
                <a:solidFill>
                  <a:srgbClr val="F92571"/>
                </a:solidFill>
              </a:rPr>
              <a:t>Дообучение преподавателем</a:t>
            </a:r>
          </a:p>
        </p:txBody>
      </p:sp>
      <p:sp>
        <p:nvSpPr>
          <p:cNvPr id="218788516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246120"/>
            <a:ext cx="2263553" cy="2797928"/>
          </a:xfrm>
        </p:spPr>
        <p:txBody>
          <a:bodyPr/>
          <a:lstStyle/>
          <a:p>
            <a:pPr>
              <a:defRPr/>
            </a:pPr>
            <a:r>
              <a:rPr lang="ru-RU" sz="1200">
                <a:solidFill>
                  <a:schemeClr val="tx1"/>
                </a:solidFill>
              </a:rPr>
              <a:t>Поправки преподавателя учитываются в следующих ответах ИИ — он остаётся конечным валидатором.</a:t>
            </a:r>
          </a:p>
        </p:txBody>
      </p:sp>
      <p:sp>
        <p:nvSpPr>
          <p:cNvPr id="41981388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2980944" cy="376138"/>
          </a:xfrm>
        </p:spPr>
        <p:txBody>
          <a:bodyPr/>
          <a:lstStyle/>
          <a:p>
            <a:pPr>
              <a:defRPr/>
            </a:pPr>
            <a:r>
              <a:rPr lang="ru-RU"/>
              <a:t>ИИ В ТРЕНАЖЁРЕ</a:t>
            </a:r>
          </a:p>
        </p:txBody>
      </p:sp>
      <p:sp>
        <p:nvSpPr>
          <p:cNvPr id="2108721958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993788803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97195957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</a:p>
        </p:txBody>
      </p:sp>
      <p:sp>
        <p:nvSpPr>
          <p:cNvPr id="1313663010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626650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97624858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33737312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720694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67575155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/>
          <a:lstStyle/>
          <a:p>
            <a:pPr>
              <a:defRPr/>
            </a:pPr>
            <a:r>
              <a:rPr lang="ru-RU" sz="1600" b="1">
                <a:solidFill>
                  <a:srgbClr val="F92571"/>
                </a:solidFill>
              </a:rPr>
              <a:t>Рабочие места</a:t>
            </a:r>
          </a:p>
        </p:txBody>
      </p:sp>
      <p:sp>
        <p:nvSpPr>
          <p:cNvPr id="2118393266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/>
          <a:lstStyle/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Браузер без установки ПО, IP-телефон или софтфон MicroSIP. Роли ученик, преподаватель, администратор — RBAC и аудит действий.</a:t>
            </a:r>
          </a:p>
        </p:txBody>
      </p:sp>
      <p:sp>
        <p:nvSpPr>
          <p:cNvPr id="656915112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/>
          <a:lstStyle/>
          <a:p>
            <a:pPr>
              <a:defRPr/>
            </a:pPr>
            <a:r>
              <a:rPr lang="ru-RU" sz="1600" b="1">
                <a:solidFill>
                  <a:srgbClr val="F92571"/>
                </a:solidFill>
              </a:rPr>
              <a:t>Сервер</a:t>
            </a:r>
          </a:p>
        </p:txBody>
      </p:sp>
      <p:sp>
        <p:nvSpPr>
          <p:cNvPr id="718954427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/>
          <a:lstStyle/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Frontend, Backend (FastAPI), Voice, Asterisk, PostgreSQL в Docker. HTTPS/WSS, SIP TLS/SRTP, ежедневные зашифрованные копии, кластер Backend.</a:t>
            </a:r>
          </a:p>
        </p:txBody>
      </p:sp>
      <p:sp>
        <p:nvSpPr>
          <p:cNvPr id="329154810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/>
          <a:lstStyle/>
          <a:p>
            <a:pPr>
              <a:defRPr/>
            </a:pPr>
            <a:r>
              <a:rPr lang="ru-RU" sz="1600" b="1">
                <a:solidFill>
                  <a:srgbClr val="F92571"/>
                </a:solidFill>
              </a:rPr>
              <a:t>Локальный ИИ</a:t>
            </a:r>
          </a:p>
        </p:txBody>
      </p:sp>
      <p:sp>
        <p:nvSpPr>
          <p:cNvPr id="38802342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/>
          <a:lstStyle/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Ollama и Qwen3: модель авторинга и телефонная модель. Распознавание и синтез речи локально, без выхода во внешние сети.</a:t>
            </a:r>
          </a:p>
        </p:txBody>
      </p:sp>
      <p:sp>
        <p:nvSpPr>
          <p:cNvPr id="1083927382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АРХИТЕКТУРА</a:t>
            </a:r>
          </a:p>
        </p:txBody>
      </p:sp>
      <p:sp>
        <p:nvSpPr>
          <p:cNvPr id="176562043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/>
          <a:lstStyle/>
          <a:p>
            <a:pPr>
              <a:defRPr/>
            </a:pPr>
            <a:r>
              <a:rPr lang="ru-RU" sz="4400"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635578807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/>
          <a:lstStyle/>
          <a:p>
            <a:pPr>
              <a:defRPr/>
            </a:pPr>
            <a:r>
              <a:rPr lang="ru-RU" sz="4400"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521713167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/>
          <a:lstStyle/>
          <a:p>
            <a:pPr>
              <a:defRPr/>
            </a:pPr>
            <a:r>
              <a:rPr lang="ru-RU" sz="4400" b="1">
                <a:solidFill>
                  <a:schemeClr val="accent5"/>
                </a:solidFill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021632" name="Скругленный прямоугольник 1"/>
          <p:cNvSpPr/>
          <p:nvPr/>
        </p:nvSpPr>
        <p:spPr bwMode="auto">
          <a:xfrm>
            <a:off x="346075" y="324562"/>
            <a:ext cx="3648456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51195860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4977443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09112878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65703744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14936653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51687019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17541769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 marL="0" indent="0">
              <a:spcAft>
                <a:spcPts val="1200"/>
              </a:spcAft>
              <a:buNone/>
              <a:defRPr/>
            </a:pPr>
            <a:r>
              <a:rPr lang="ru-RU" sz="1500" b="1">
                <a:solidFill>
                  <a:schemeClr val="tx1"/>
                </a:solidFill>
              </a:rPr>
              <a:t>Уточнения заказчика — в продукте</a:t>
            </a:r>
          </a:p>
          <a:p>
            <a:pPr algn="l" marL="0" indent="0">
              <a:spcAft>
                <a:spcPts val="1200"/>
              </a:spcAft>
              <a:buNone/>
              <a:defRPr/>
            </a:pPr>
            <a:r>
              <a:rPr lang="ru-RU" sz="1500" b="0">
                <a:solidFill>
                  <a:schemeClr val="tx1"/>
                </a:solidFill>
              </a:rPr>
              <a:t>Сверили каждый ответ ментора и заказчика от 27.09 с кодом. Изменения внесены в логику АРМ, оценку, интерфейс и документацию и закреплены автотестами.</a:t>
            </a:r>
          </a:p>
          <a:p>
            <a:pPr algn="l" marL="0" indent="0">
              <a:spcAft>
                <a:spcPts val="1200"/>
              </a:spcAft>
              <a:buNone/>
              <a:defRPr/>
            </a:pPr>
            <a:r>
              <a:rPr lang="ru-RU" sz="1500" b="0">
                <a:solidFill>
                  <a:schemeClr val="tx1"/>
                </a:solidFill>
              </a:rPr>
              <a:t>Разговор с заявителем, названный плюсом для MVP, реализован отдельным режимом полного цикла 112.</a:t>
            </a:r>
          </a:p>
        </p:txBody>
      </p:sp>
      <p:sp>
        <p:nvSpPr>
          <p:cNvPr id="742333529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Нормативы: 30 с до открытия, 3 мин до первой записи</a:t>
            </a:r>
          </a:p>
        </p:txBody>
      </p:sp>
      <p:sp>
        <p:nvSpPr>
          <p:cNvPr id="631063696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Все статусы цикла по порядку, у каждого — комментарий</a:t>
            </a:r>
          </a:p>
        </p:txBody>
      </p:sp>
      <p:sp>
        <p:nvSpPr>
          <p:cNvPr id="999534545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Ошибка в карточке: узнаём от бригады, сообщаем в 112</a:t>
            </a:r>
          </a:p>
        </p:txBody>
      </p:sp>
      <p:sp>
        <p:nvSpPr>
          <p:cNvPr id="745289907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Голос: вышестоящий начальник и руководитель бригады</a:t>
            </a:r>
          </a:p>
        </p:txBody>
      </p:sp>
      <p:sp>
        <p:nvSpPr>
          <p:cNvPr id="431840453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CPU или GPU — переключатель в кабинете администратора</a:t>
            </a:r>
          </a:p>
        </p:txBody>
      </p:sp>
      <p:sp>
        <p:nvSpPr>
          <p:cNvPr id="1265076073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66300507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3374136" cy="376138"/>
          </a:xfrm>
        </p:spPr>
        <p:txBody>
          <a:bodyPr/>
          <a:lstStyle/>
          <a:p>
            <a:pPr>
              <a:defRPr/>
            </a:pPr>
            <a:r>
              <a:rPr lang="ru-RU"/>
              <a:t>ОТВЕТЫ ЗАКАЗЧИКА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10022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446249856" name="Скругленный прямоугольник 11"/>
          <p:cNvSpPr/>
          <p:nvPr/>
        </p:nvSpPr>
        <p:spPr bwMode="auto"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54895377" name="Скругленный прямоугольник 10"/>
          <p:cNvSpPr/>
          <p:nvPr/>
        </p:nvSpPr>
        <p:spPr bwMode="auto"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426436384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57643469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21</a:t>
            </a:fld>
            <a:endParaRPr lang="ru-RU"/>
          </a:p>
        </p:txBody>
      </p:sp>
      <p:sp>
        <p:nvSpPr>
          <p:cNvPr id="661606365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1" sz="3000">
                <a:solidFill>
                  <a:schemeClr val="tx1"/>
                </a:solidFill>
              </a:rPr>
              <a:t>0,4 с</a:t>
            </a:r>
          </a:p>
        </p:txBody>
      </p:sp>
      <p:sp>
        <p:nvSpPr>
          <p:cNvPr id="2053071892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708095"/>
            <a:ext cx="4790314" cy="77960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chemeClr val="tx1"/>
                </a:solidFill>
              </a:rPr>
              <a:t>ответ модели на видеокарте; 2 с — на процессоре минимального сервера по ТЗ</a:t>
            </a:r>
          </a:p>
        </p:txBody>
      </p:sp>
      <p:sp>
        <p:nvSpPr>
          <p:cNvPr id="66362069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1" sz="3000">
                <a:solidFill>
                  <a:schemeClr val="tx1"/>
                </a:solidFill>
              </a:rPr>
              <a:t>363 + 12</a:t>
            </a:r>
          </a:p>
        </p:txBody>
      </p:sp>
      <p:sp>
        <p:nvSpPr>
          <p:cNvPr id="1371310798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3574165"/>
            <a:ext cx="4790314" cy="869021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chemeClr val="tx1"/>
                </a:solidFill>
              </a:rPr>
              <a:t>автотестов бэкенда и браузерных сценариев проходят</a:t>
            </a:r>
          </a:p>
        </p:txBody>
      </p:sp>
      <p:sp>
        <p:nvSpPr>
          <p:cNvPr id="1599468206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1" sz="3000">
                <a:solidFill>
                  <a:schemeClr val="tx1"/>
                </a:solidFill>
              </a:rPr>
              <a:t>96 упражнений</a:t>
            </a:r>
          </a:p>
        </p:txBody>
      </p:sp>
      <p:sp>
        <p:nvSpPr>
          <p:cNvPr id="351400482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5530100"/>
            <a:ext cx="4790314" cy="84801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chemeClr val="tx1"/>
                </a:solidFill>
              </a:rPr>
              <a:t>из 32 учебных билетов заказчика, классификатор происшествий v_046</a:t>
            </a:r>
          </a:p>
        </p:txBody>
      </p:sp>
      <p:graphicFrame>
        <p:nvGraphicFramePr>
          <p:cNvPr id="160248798" name="Диаграмма 9"/>
          <p:cNvGraphicFramePr>
            <a:graphicFrameLocks xmlns:a="http://schemas.openxmlformats.org/drawingml/2006/main"/>
          </p:cNvGraphicFramePr>
          <p:nvPr/>
        </p:nvGraphicFramePr>
        <p:xfrm rot="0"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1282732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2763648" cy="376138"/>
          </a:xfrm>
        </p:spPr>
        <p:txBody>
          <a:bodyPr/>
          <a:lstStyle/>
          <a:p>
            <a:pPr>
              <a:defRPr/>
            </a:pPr>
            <a:r>
              <a:rPr lang="ru-RU"/>
              <a:t>В ЦИФРАХ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008809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90180037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41159451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57065338" name="Скругленный прямоугольник 1"/>
          <p:cNvSpPr/>
          <p:nvPr/>
        </p:nvSpPr>
        <p:spPr bwMode="auto">
          <a:xfrm>
            <a:off x="346075" y="324562"/>
            <a:ext cx="404164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7361375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28053194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62603752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62624413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sz="1400" b="1">
                <a:solidFill>
                  <a:schemeClr val="tx1"/>
                </a:solidFill>
              </a:rPr>
              <a:t>Проблема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Специализированного тренажёра для диспетчеров ДДС нет. Преподаватель вручную следит за временем и действиями, ошибки в адресе и пропущенные статусы выявляются поздно.</a:t>
            </a:r>
          </a:p>
        </p:txBody>
      </p:sp>
      <p:sp>
        <p:nvSpPr>
          <p:cNvPr id="2036877237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sz="1400" b="1">
                <a:solidFill>
                  <a:schemeClr val="tx1"/>
                </a:solidFill>
              </a:rPr>
              <a:t>Решение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Изолированный тренажёр, повторяющий АРМ: карточки от 112, голос бригады и начальника, доклады с места, статусы по ходу работ. ИИ генерирует сценарии, наставник ведёт новичка по шагам.</a:t>
            </a:r>
          </a:p>
        </p:txBody>
      </p:sp>
      <p:sp>
        <p:nvSpPr>
          <p:cNvPr id="1362697714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sz="1400" b="1">
                <a:solidFill>
                  <a:schemeClr val="tx1"/>
                </a:solidFill>
              </a:rPr>
              <a:t>Результат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Каждое действие проверяется автоматически: открытие за 30 с, первая запись за 3 мин, все статусы с комментарием. Преподаватель получает отчёт и типичные ошибки группы.</a:t>
            </a:r>
          </a:p>
        </p:txBody>
      </p:sp>
      <p:cxnSp>
        <p:nvCxnSpPr>
          <p:cNvPr id="954936431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0896457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fill="norm" stroke="1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fill="norm" stroke="1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fill="norm" stroke="1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fill="norm" stroke="1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fill="norm" stroke="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fill="norm" stroke="1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fill="norm" stroke="1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fill="norm" stroke="1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fill="norm" stroke="1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72964818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fill="norm" stroke="1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fill="norm" stroke="1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fill="norm" stroke="1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fill="norm" stroke="1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fill="norm" stroke="1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fill="norm" stroke="1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fill="norm" stroke="1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689950817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fill="norm" stroke="1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fill="norm" stroke="1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fill="norm" stroke="1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fill="norm" stroke="1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fill="norm" stroke="1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fill="norm" stroke="1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fill="norm" stroke="1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fill="norm" stroke="1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1497633952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3615214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3767328" cy="376138"/>
          </a:xfrm>
        </p:spPr>
        <p:txBody>
          <a:bodyPr/>
          <a:lstStyle/>
          <a:p>
            <a:pPr>
              <a:defRPr/>
            </a:pPr>
            <a:r>
              <a:rPr lang="ru-RU"/>
              <a:t>ПРОБЛЕМА И РЕШЕНИЕ</a:t>
            </a:r>
          </a:p>
        </p:txBody>
      </p:sp>
      <p:cxnSp>
        <p:nvCxnSpPr>
          <p:cNvPr id="536187679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982412" name="Скругленный прямоугольник 11"/>
          <p:cNvSpPr/>
          <p:nvPr/>
        </p:nvSpPr>
        <p:spPr bwMode="auto">
          <a:xfrm>
            <a:off x="346075" y="324562"/>
            <a:ext cx="3648456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71146304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063161520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43751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1" sz="1500">
                <a:solidFill>
                  <a:schemeClr val="accent5"/>
                </a:solidFill>
              </a:rPr>
              <a:t>Открыть карточку</a:t>
            </a:r>
          </a:p>
        </p:txBody>
      </p:sp>
      <p:sp>
        <p:nvSpPr>
          <p:cNvPr id="1765119953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437515" y="1869555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chemeClr val="tx1"/>
                </a:solidFill>
              </a:rPr>
              <a:t>≤ 30 с от появления в строке сообщений</a:t>
            </a:r>
          </a:p>
        </p:txBody>
      </p:sp>
      <p:sp>
        <p:nvSpPr>
          <p:cNvPr id="841846843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92440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1" sz="1500">
                <a:solidFill>
                  <a:schemeClr val="accent5"/>
                </a:solidFill>
              </a:rPr>
              <a:t>Бригада и доклад</a:t>
            </a:r>
          </a:p>
        </p:txBody>
      </p:sp>
      <p:sp>
        <p:nvSpPr>
          <p:cNvPr id="1254367542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924400" y="1869555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chemeClr val="tx1"/>
                </a:solidFill>
              </a:rPr>
              <a:t>Назначить бригаду, доложить начальнику смены по телефону</a:t>
            </a:r>
          </a:p>
        </p:txBody>
      </p:sp>
      <p:sp>
        <p:nvSpPr>
          <p:cNvPr id="594587377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42230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1" sz="1500">
                <a:solidFill>
                  <a:schemeClr val="accent5"/>
                </a:solidFill>
              </a:rPr>
              <a:t>Итог и оценка</a:t>
            </a:r>
          </a:p>
        </p:txBody>
      </p:sp>
      <p:sp>
        <p:nvSpPr>
          <p:cNvPr id="736406785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422302" y="1869555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chemeClr val="tx1"/>
                </a:solidFill>
              </a:rPr>
              <a:t>Результат работ, отметка отработки, разбор решений диспетчера</a:t>
            </a:r>
          </a:p>
        </p:txBody>
      </p:sp>
      <p:sp>
        <p:nvSpPr>
          <p:cNvPr id="652719203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68495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1" sz="1500">
                <a:solidFill>
                  <a:schemeClr val="accent5"/>
                </a:solidFill>
              </a:rPr>
              <a:t>Принять карточку</a:t>
            </a:r>
          </a:p>
        </p:txBody>
      </p:sp>
      <p:sp>
        <p:nvSpPr>
          <p:cNvPr id="909427193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684957" y="5236818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chemeClr val="tx1"/>
                </a:solidFill>
              </a:rPr>
              <a:t>Первая запись — статус и текст ≤ 3 мин; отказ только мотивированный</a:t>
            </a:r>
          </a:p>
        </p:txBody>
      </p:sp>
      <p:sp>
        <p:nvSpPr>
          <p:cNvPr id="1694950148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17184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1" sz="1500">
                <a:solidFill>
                  <a:schemeClr val="accent5"/>
                </a:solidFill>
              </a:rPr>
              <a:t>Ход работ</a:t>
            </a:r>
          </a:p>
        </p:txBody>
      </p:sp>
      <p:sp>
        <p:nvSpPr>
          <p:cNvPr id="967696718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171842" y="5236818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chemeClr val="tx1"/>
                </a:solidFill>
              </a:rPr>
              <a:t>Каждый доклад бригады — следующий статус и запись в комментарий</a:t>
            </a:r>
          </a:p>
        </p:txBody>
      </p:sp>
      <p:cxnSp>
        <p:nvCxnSpPr>
          <p:cNvPr id="784126256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370839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711473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415305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188722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49918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8594373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1345515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3286961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2271534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1594064420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1291116278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656342585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704435733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113179489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3374136" cy="376138"/>
          </a:xfrm>
        </p:spPr>
        <p:txBody>
          <a:bodyPr/>
          <a:lstStyle/>
          <a:p>
            <a:pPr>
              <a:defRPr/>
            </a:pPr>
            <a:r>
              <a:rPr lang="ru-RU"/>
              <a:t>СМЕНА ДИСПЕТЧЕРА</a:t>
            </a:r>
          </a:p>
        </p:txBody>
      </p:sp>
      <p:sp>
        <p:nvSpPr>
          <p:cNvPr id="1800814247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919518606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378328260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961861620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999610407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185096" name="Скругленный прямоугольник 1"/>
          <p:cNvSpPr/>
          <p:nvPr/>
        </p:nvSpPr>
        <p:spPr bwMode="auto">
          <a:xfrm>
            <a:off x="346075" y="324562"/>
            <a:ext cx="3255263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grpSp>
        <p:nvGrpSpPr>
          <p:cNvPr id="2057686678" name="Group 82"/>
          <p:cNvGrpSpPr>
            <a:grpSpLocks noChangeAspect="1"/>
          </p:cNvGrpSpPr>
          <p:nvPr/>
        </p:nvGrpSpPr>
        <p:grpSpPr bwMode="auto"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8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fill="norm" stroke="1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/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ru-RU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212.22.78.93</a:t>
              </a:r>
            </a:p>
          </p:txBody>
        </p: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fill="norm" stroke="1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grpSp>
        <p:nvGrpSpPr>
          <p:cNvPr id="626748049" name="Group 82"/>
          <p:cNvGrpSpPr>
            <a:grpSpLocks noChangeAspect="1"/>
          </p:cNvGrpSpPr>
          <p:nvPr/>
        </p:nvGrpSpPr>
        <p:grpSpPr bwMode="auto"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6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7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8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9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0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1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42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7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0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3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43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fill="norm" stroke="1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/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4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ru-RU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212.22.78.93</a:t>
              </a:r>
            </a:p>
          </p:txBody>
        </p: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fill="norm" stroke="1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sp>
        <p:nvSpPr>
          <p:cNvPr id="1157638271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83845726" name="Текст 2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Бригада доложила — панель подсказывает, какой статус поставить и что записать в комментарий</a:t>
            </a:r>
          </a:p>
        </p:txBody>
      </p:sp>
      <p:sp>
        <p:nvSpPr>
          <p:cNvPr id="296476295" name="Текст 3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После завершения — разбор решений: нормативы, статусы, доклад, результат (13 из 13)</a:t>
            </a:r>
          </a:p>
        </p:txBody>
      </p:sp>
      <p:pic>
        <p:nvPicPr>
          <p:cNvPr id="385371731" name="Рисунок 4" descr="22-latest-report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743" b="743"/>
          <a:stretch>
            <a:fillRect/>
          </a:stretch>
        </p:blipFill>
        <p:spPr/>
      </p:pic>
      <p:pic>
        <p:nvPicPr>
          <p:cNvPr id="238560436" name="Рисунок 5" descr="13-finished.png"/>
          <p:cNvPicPr>
            <a:picLocks noGrp="1" noChangeAspect="1"/>
          </p:cNvPicPr>
          <p:nvPr>
            <p:ph type="pic" sz="quarter" idx="18"/>
          </p:nvPr>
        </p:nvPicPr>
        <p:blipFill>
          <a:blip r:embed="rId5"/>
          <a:srcRect t="743" b="743"/>
          <a:stretch>
            <a:fillRect/>
          </a:stretch>
        </p:blipFill>
        <p:spPr/>
      </p:pic>
      <p:sp>
        <p:nvSpPr>
          <p:cNvPr id="723077802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2980944" cy="376138"/>
          </a:xfrm>
        </p:spPr>
        <p:txBody>
          <a:bodyPr/>
          <a:lstStyle/>
          <a:p>
            <a:pPr>
              <a:defRPr/>
            </a:pPr>
            <a:r>
              <a:rPr lang="ru-RU"/>
              <a:t>АРМ ДИСПЕТЧЕРА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2026-09-27T14:49:41Z</dcterms:modified>
</cp:coreProperties>
</file>